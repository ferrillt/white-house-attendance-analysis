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4FF24-9DF8-D7EC-3E1E-091FE0B5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756261-15E2-3022-8701-126612C96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36B1-886D-E643-7C58-CC7097B6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58D6D-7098-1853-0466-7D3CA651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7B62D-20E8-D522-0E23-712A47CE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27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B5EF-C4BB-A881-6D3C-4C93EC4E5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A6DA9-4865-BEED-3324-42E5C8874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3FBA2-D76A-17AE-A663-AC5E511A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401A3-AE40-E6B5-CD6F-3CC029DF3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C8144-7AEB-30F1-FCA7-10F6A7FC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39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A41D-445D-35E4-DF33-815CCE2DA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58C0-F1A3-E375-A48C-A1A0CE231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C4EFF-6C01-18AF-E79C-EFDC1D51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90AD9-F2F8-93FC-84E1-CF0035F3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614FB-A68F-0267-2822-A1C11F6BD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318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5331F-1EE3-DBA7-2162-A3F9EA044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EE377-5D6A-644C-5991-80C4FD81E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5D59C1-39DD-5C63-A411-DDA3BD88C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C3F799-601C-EFD6-6ED9-D2BF6BB6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88B86-AFAB-609A-F889-26364382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80851-532C-9BA4-9CE6-073744D3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72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A24B-BDFA-A625-39AF-C7182F5B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C0722-3865-A82E-0D10-D45B56DDB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0D2E74-248B-E488-29CF-9CCB52AA0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4762F-0053-7027-AED8-747CB9DC4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5C207-39AD-95C1-C6A1-301279D8B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1AD10-19ED-B977-54E7-0056BB0E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FAF46-E9E6-E2B2-0509-0E9C5D2A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A8724-CA03-01E1-D351-34A2770E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2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EAD4-0AF7-F5D1-50B0-733EDBC1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1B2271-D86F-EA8F-9AED-6812281F0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92117-F7AE-B175-0EF4-B680BFC4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26CA5-A1B6-1894-3B1D-F3DB4CE7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94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2A3955-92CB-C93A-DB47-D8358B172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2C8742-7B53-A451-B74D-E3010EAE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8FF18-200F-EBD1-B131-3C629D44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5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3217-9643-A573-5E67-6B8F2C1D8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48016-C645-4BC7-20EF-1097C014A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0AF65-4382-B57D-151F-33D7ED18E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8D12B-0D1C-09C5-9BE3-0E266547A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4632-70A5-D686-694B-6BC5CF73E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3B191-0C17-BF4F-93F9-08112E9A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EED4-062D-2651-005E-1799C833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E4230-A27F-AB09-AA08-D3D022C055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8A9EA-3894-0D9E-252F-265135248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BA9D5-B877-622E-1D32-7C363C10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39296-AC42-1156-1FD0-E9B72395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F1EADA-E8AE-E9C7-4C8F-B5A522859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3AB2-AD48-CF76-E1A9-ADDB2A326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02EB7-6F97-6CEA-35AA-83F95E460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7D97F-8CEE-A7C7-BBD8-8C774B6C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26671-3C43-6FA6-CDD8-6B37BBA3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594FC-9314-C7CE-3406-651960EF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25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7A9C70-7AB6-3A54-619D-EEF87719FD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143BFC-EEB6-E30A-A7D8-BC9E422D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2B35-8D2E-D641-0573-09FDDBB8B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C3F7-E6AA-2092-5934-81D99049A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7C67E-DE30-8AD8-F130-4BD504F2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594CD-CEE4-7C88-59C2-AC8106BD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427A5-D3B1-7512-CC2C-085871A40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1822D-1EE9-73E0-D377-8BDEABC82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4C5D41-6E07-4E2A-8FCB-6035EFE814CA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5BD5A-8555-660F-9929-D474174E5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4CA67-1D29-C6AE-34E4-3BA72D5E6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01363-0363-4C4E-81A9-DAFF4CA65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DA3C418-758E-4180-A5D0-8655D680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C8EF06-5EC3-4883-AFAF-D74FF46550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5135971" cy="687164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5C989-02E4-CD95-B7C2-5C8F3D5B5A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3" r="18758"/>
          <a:stretch>
            <a:fillRect/>
          </a:stretch>
        </p:blipFill>
        <p:spPr>
          <a:xfrm>
            <a:off x="2915455" y="10"/>
            <a:ext cx="9276545" cy="6857990"/>
          </a:xfrm>
          <a:custGeom>
            <a:avLst/>
            <a:gdLst/>
            <a:ahLst/>
            <a:cxnLst/>
            <a:rect l="l" t="t" r="r" b="b"/>
            <a:pathLst>
              <a:path w="9276545" h="6871647">
                <a:moveTo>
                  <a:pt x="9276545" y="0"/>
                </a:moveTo>
                <a:lnTo>
                  <a:pt x="9276545" y="6858000"/>
                </a:lnTo>
                <a:lnTo>
                  <a:pt x="1546051" y="6871647"/>
                </a:lnTo>
                <a:lnTo>
                  <a:pt x="1535751" y="6828910"/>
                </a:lnTo>
                <a:cubicBezTo>
                  <a:pt x="1530460" y="6775140"/>
                  <a:pt x="1515370" y="6618042"/>
                  <a:pt x="1514301" y="6549029"/>
                </a:cubicBezTo>
                <a:cubicBezTo>
                  <a:pt x="1518045" y="6491396"/>
                  <a:pt x="1528503" y="6450608"/>
                  <a:pt x="1529339" y="6414828"/>
                </a:cubicBezTo>
                <a:cubicBezTo>
                  <a:pt x="1525062" y="6359280"/>
                  <a:pt x="1502062" y="6307149"/>
                  <a:pt x="1493941" y="6268848"/>
                </a:cubicBezTo>
                <a:cubicBezTo>
                  <a:pt x="1502669" y="6254191"/>
                  <a:pt x="1469920" y="6200171"/>
                  <a:pt x="1480613" y="6185025"/>
                </a:cubicBezTo>
                <a:cubicBezTo>
                  <a:pt x="1481020" y="6164522"/>
                  <a:pt x="1458164" y="6060790"/>
                  <a:pt x="1443364" y="6018360"/>
                </a:cubicBezTo>
                <a:cubicBezTo>
                  <a:pt x="1426694" y="5970758"/>
                  <a:pt x="1390307" y="5920074"/>
                  <a:pt x="1380584" y="5899407"/>
                </a:cubicBezTo>
                <a:cubicBezTo>
                  <a:pt x="1370860" y="5878740"/>
                  <a:pt x="1392244" y="5920877"/>
                  <a:pt x="1385023" y="5894356"/>
                </a:cubicBezTo>
                <a:cubicBezTo>
                  <a:pt x="1377800" y="5867835"/>
                  <a:pt x="1345702" y="5770498"/>
                  <a:pt x="1337254" y="5740279"/>
                </a:cubicBezTo>
                <a:cubicBezTo>
                  <a:pt x="1353956" y="5738860"/>
                  <a:pt x="1323673" y="5722040"/>
                  <a:pt x="1334321" y="5713042"/>
                </a:cubicBezTo>
                <a:cubicBezTo>
                  <a:pt x="1343675" y="5706701"/>
                  <a:pt x="1336672" y="5700118"/>
                  <a:pt x="1335877" y="5692870"/>
                </a:cubicBezTo>
                <a:cubicBezTo>
                  <a:pt x="1343201" y="5683812"/>
                  <a:pt x="1329617" y="5652064"/>
                  <a:pt x="1319978" y="5643427"/>
                </a:cubicBezTo>
                <a:cubicBezTo>
                  <a:pt x="1286551" y="5622177"/>
                  <a:pt x="1310947" y="5579803"/>
                  <a:pt x="1285321" y="5562271"/>
                </a:cubicBezTo>
                <a:cubicBezTo>
                  <a:pt x="1281540" y="5556238"/>
                  <a:pt x="1279983" y="5550455"/>
                  <a:pt x="1279815" y="5544867"/>
                </a:cubicBezTo>
                <a:lnTo>
                  <a:pt x="1282507" y="5529404"/>
                </a:lnTo>
                <a:lnTo>
                  <a:pt x="1289604" y="5525378"/>
                </a:lnTo>
                <a:lnTo>
                  <a:pt x="1287766" y="5515726"/>
                </a:lnTo>
                <a:lnTo>
                  <a:pt x="1288829" y="5513051"/>
                </a:lnTo>
                <a:cubicBezTo>
                  <a:pt x="1290896" y="5507946"/>
                  <a:pt x="1292688" y="5502897"/>
                  <a:pt x="1293373" y="5497833"/>
                </a:cubicBezTo>
                <a:cubicBezTo>
                  <a:pt x="1288690" y="5483829"/>
                  <a:pt x="1272696" y="5459278"/>
                  <a:pt x="1260736" y="5429027"/>
                </a:cubicBezTo>
                <a:cubicBezTo>
                  <a:pt x="1238579" y="5396416"/>
                  <a:pt x="1238884" y="5351600"/>
                  <a:pt x="1221610" y="5316328"/>
                </a:cubicBezTo>
                <a:lnTo>
                  <a:pt x="1216099" y="5309330"/>
                </a:lnTo>
                <a:lnTo>
                  <a:pt x="1217278" y="5279477"/>
                </a:lnTo>
                <a:cubicBezTo>
                  <a:pt x="1221588" y="5274318"/>
                  <a:pt x="1222716" y="5266940"/>
                  <a:pt x="1218469" y="5260597"/>
                </a:cubicBezTo>
                <a:lnTo>
                  <a:pt x="1206220" y="5152555"/>
                </a:lnTo>
                <a:cubicBezTo>
                  <a:pt x="1205294" y="5116878"/>
                  <a:pt x="1196908" y="5101727"/>
                  <a:pt x="1212921" y="5046536"/>
                </a:cubicBezTo>
                <a:cubicBezTo>
                  <a:pt x="1234138" y="4987918"/>
                  <a:pt x="1204801" y="4903116"/>
                  <a:pt x="1212183" y="4837345"/>
                </a:cubicBezTo>
                <a:cubicBezTo>
                  <a:pt x="1183151" y="4802424"/>
                  <a:pt x="1209228" y="4821062"/>
                  <a:pt x="1202048" y="4784195"/>
                </a:cubicBezTo>
                <a:cubicBezTo>
                  <a:pt x="1202483" y="4760878"/>
                  <a:pt x="1202919" y="4737561"/>
                  <a:pt x="1203354" y="4714245"/>
                </a:cubicBezTo>
                <a:lnTo>
                  <a:pt x="1201502" y="4700836"/>
                </a:lnTo>
                <a:lnTo>
                  <a:pt x="1194919" y="4697224"/>
                </a:lnTo>
                <a:lnTo>
                  <a:pt x="1187792" y="4677162"/>
                </a:lnTo>
                <a:cubicBezTo>
                  <a:pt x="1186060" y="4669625"/>
                  <a:pt x="1185291" y="4661478"/>
                  <a:pt x="1186080" y="4652429"/>
                </a:cubicBezTo>
                <a:cubicBezTo>
                  <a:pt x="1199189" y="4622456"/>
                  <a:pt x="1167081" y="4571771"/>
                  <a:pt x="1184722" y="4534840"/>
                </a:cubicBezTo>
                <a:cubicBezTo>
                  <a:pt x="1182407" y="4499077"/>
                  <a:pt x="1175424" y="4460227"/>
                  <a:pt x="1172188" y="4437851"/>
                </a:cubicBezTo>
                <a:cubicBezTo>
                  <a:pt x="1161331" y="4428466"/>
                  <a:pt x="1178123" y="4398274"/>
                  <a:pt x="1165306" y="4400581"/>
                </a:cubicBezTo>
                <a:cubicBezTo>
                  <a:pt x="1171061" y="4389819"/>
                  <a:pt x="1173552" y="4346771"/>
                  <a:pt x="1168602" y="4335651"/>
                </a:cubicBezTo>
                <a:lnTo>
                  <a:pt x="1178384" y="4280215"/>
                </a:lnTo>
                <a:lnTo>
                  <a:pt x="1177294" y="4274660"/>
                </a:lnTo>
                <a:cubicBezTo>
                  <a:pt x="1177138" y="4268882"/>
                  <a:pt x="1177520" y="4251103"/>
                  <a:pt x="1177448" y="4245552"/>
                </a:cubicBezTo>
                <a:cubicBezTo>
                  <a:pt x="1177252" y="4244155"/>
                  <a:pt x="1177058" y="4242757"/>
                  <a:pt x="1176863" y="4241361"/>
                </a:cubicBezTo>
                <a:lnTo>
                  <a:pt x="1162386" y="4207167"/>
                </a:lnTo>
                <a:cubicBezTo>
                  <a:pt x="1162950" y="4202536"/>
                  <a:pt x="1174655" y="4199565"/>
                  <a:pt x="1174343" y="4192380"/>
                </a:cubicBezTo>
                <a:lnTo>
                  <a:pt x="1160516" y="4164062"/>
                </a:lnTo>
                <a:lnTo>
                  <a:pt x="1161365" y="4158623"/>
                </a:lnTo>
                <a:lnTo>
                  <a:pt x="1144878" y="4076261"/>
                </a:lnTo>
                <a:lnTo>
                  <a:pt x="1123687" y="4005692"/>
                </a:lnTo>
                <a:lnTo>
                  <a:pt x="1096720" y="3754257"/>
                </a:lnTo>
                <a:cubicBezTo>
                  <a:pt x="1083618" y="3639924"/>
                  <a:pt x="1064313" y="3636659"/>
                  <a:pt x="1047682" y="3517638"/>
                </a:cubicBezTo>
                <a:cubicBezTo>
                  <a:pt x="1048550" y="3477187"/>
                  <a:pt x="1049418" y="3436735"/>
                  <a:pt x="1050285" y="3396284"/>
                </a:cubicBezTo>
                <a:lnTo>
                  <a:pt x="1030166" y="3320814"/>
                </a:lnTo>
                <a:lnTo>
                  <a:pt x="1034128" y="3260443"/>
                </a:lnTo>
                <a:lnTo>
                  <a:pt x="1007751" y="3198916"/>
                </a:lnTo>
                <a:cubicBezTo>
                  <a:pt x="1003323" y="3193074"/>
                  <a:pt x="1001150" y="3187393"/>
                  <a:pt x="1000384" y="3181839"/>
                </a:cubicBezTo>
                <a:cubicBezTo>
                  <a:pt x="1000734" y="3176675"/>
                  <a:pt x="1001085" y="3171511"/>
                  <a:pt x="1001435" y="3166346"/>
                </a:cubicBezTo>
                <a:lnTo>
                  <a:pt x="968918" y="3112638"/>
                </a:lnTo>
                <a:cubicBezTo>
                  <a:pt x="957125" y="3092489"/>
                  <a:pt x="955617" y="3065232"/>
                  <a:pt x="934483" y="3031628"/>
                </a:cubicBezTo>
                <a:cubicBezTo>
                  <a:pt x="914631" y="2997037"/>
                  <a:pt x="908933" y="3005661"/>
                  <a:pt x="879229" y="2948196"/>
                </a:cubicBezTo>
                <a:cubicBezTo>
                  <a:pt x="850845" y="2897154"/>
                  <a:pt x="820829" y="2806798"/>
                  <a:pt x="798666" y="2761198"/>
                </a:cubicBezTo>
                <a:cubicBezTo>
                  <a:pt x="773970" y="2714562"/>
                  <a:pt x="758278" y="2715446"/>
                  <a:pt x="746962" y="2694939"/>
                </a:cubicBezTo>
                <a:lnTo>
                  <a:pt x="712796" y="2614779"/>
                </a:lnTo>
                <a:lnTo>
                  <a:pt x="697701" y="2600020"/>
                </a:lnTo>
                <a:cubicBezTo>
                  <a:pt x="697743" y="2598787"/>
                  <a:pt x="697784" y="2597555"/>
                  <a:pt x="697823" y="2596321"/>
                </a:cubicBezTo>
                <a:lnTo>
                  <a:pt x="679645" y="2572602"/>
                </a:lnTo>
                <a:lnTo>
                  <a:pt x="680789" y="2571831"/>
                </a:lnTo>
                <a:cubicBezTo>
                  <a:pt x="682946" y="2569560"/>
                  <a:pt x="683757" y="2566863"/>
                  <a:pt x="681771" y="2563200"/>
                </a:cubicBezTo>
                <a:cubicBezTo>
                  <a:pt x="705290" y="2562299"/>
                  <a:pt x="688388" y="2558438"/>
                  <a:pt x="680456" y="2547723"/>
                </a:cubicBezTo>
                <a:cubicBezTo>
                  <a:pt x="679482" y="2534148"/>
                  <a:pt x="677183" y="2493617"/>
                  <a:pt x="675922" y="2481749"/>
                </a:cubicBezTo>
                <a:lnTo>
                  <a:pt x="672894" y="2476509"/>
                </a:lnTo>
                <a:lnTo>
                  <a:pt x="673143" y="2476297"/>
                </a:lnTo>
                <a:cubicBezTo>
                  <a:pt x="673152" y="2474932"/>
                  <a:pt x="672405" y="2473126"/>
                  <a:pt x="670567" y="2470561"/>
                </a:cubicBezTo>
                <a:lnTo>
                  <a:pt x="667369" y="2466951"/>
                </a:lnTo>
                <a:lnTo>
                  <a:pt x="661495" y="2456785"/>
                </a:lnTo>
                <a:cubicBezTo>
                  <a:pt x="661510" y="2455387"/>
                  <a:pt x="661525" y="2453987"/>
                  <a:pt x="661540" y="2452588"/>
                </a:cubicBezTo>
                <a:lnTo>
                  <a:pt x="664540" y="2449913"/>
                </a:lnTo>
                <a:lnTo>
                  <a:pt x="663581" y="2449129"/>
                </a:lnTo>
                <a:cubicBezTo>
                  <a:pt x="653014" y="2444453"/>
                  <a:pt x="642406" y="2445872"/>
                  <a:pt x="663129" y="2426579"/>
                </a:cubicBezTo>
                <a:cubicBezTo>
                  <a:pt x="643271" y="2414167"/>
                  <a:pt x="657229" y="2404769"/>
                  <a:pt x="650205" y="2379928"/>
                </a:cubicBezTo>
                <a:cubicBezTo>
                  <a:pt x="634911" y="2374359"/>
                  <a:pt x="634260" y="2365346"/>
                  <a:pt x="638008" y="2354824"/>
                </a:cubicBezTo>
                <a:cubicBezTo>
                  <a:pt x="621083" y="2334576"/>
                  <a:pt x="620949" y="2310146"/>
                  <a:pt x="609851" y="2284299"/>
                </a:cubicBezTo>
                <a:lnTo>
                  <a:pt x="585585" y="2155739"/>
                </a:lnTo>
                <a:lnTo>
                  <a:pt x="581391" y="2152892"/>
                </a:lnTo>
                <a:cubicBezTo>
                  <a:pt x="578821" y="2150768"/>
                  <a:pt x="577525" y="2149149"/>
                  <a:pt x="577083" y="2147807"/>
                </a:cubicBezTo>
                <a:lnTo>
                  <a:pt x="577251" y="2147544"/>
                </a:lnTo>
                <a:lnTo>
                  <a:pt x="546845" y="2085601"/>
                </a:lnTo>
                <a:cubicBezTo>
                  <a:pt x="538270" y="2073917"/>
                  <a:pt x="486356" y="1955894"/>
                  <a:pt x="470837" y="1931362"/>
                </a:cubicBezTo>
                <a:lnTo>
                  <a:pt x="428154" y="1657167"/>
                </a:lnTo>
                <a:lnTo>
                  <a:pt x="392797" y="1510175"/>
                </a:lnTo>
                <a:cubicBezTo>
                  <a:pt x="380165" y="1504446"/>
                  <a:pt x="369910" y="1451095"/>
                  <a:pt x="372847" y="1440507"/>
                </a:cubicBezTo>
                <a:cubicBezTo>
                  <a:pt x="369015" y="1433783"/>
                  <a:pt x="338503" y="1376212"/>
                  <a:pt x="344479" y="1367690"/>
                </a:cubicBezTo>
                <a:cubicBezTo>
                  <a:pt x="332264" y="1342150"/>
                  <a:pt x="321736" y="1310521"/>
                  <a:pt x="299558" y="1287266"/>
                </a:cubicBezTo>
                <a:cubicBezTo>
                  <a:pt x="277380" y="1264010"/>
                  <a:pt x="259203" y="1269909"/>
                  <a:pt x="243216" y="1249403"/>
                </a:cubicBezTo>
                <a:cubicBezTo>
                  <a:pt x="227230" y="1228898"/>
                  <a:pt x="218454" y="1166841"/>
                  <a:pt x="203639" y="1164232"/>
                </a:cubicBezTo>
                <a:cubicBezTo>
                  <a:pt x="192352" y="1144923"/>
                  <a:pt x="198158" y="1133798"/>
                  <a:pt x="169195" y="1087898"/>
                </a:cubicBezTo>
                <a:cubicBezTo>
                  <a:pt x="139228" y="1002950"/>
                  <a:pt x="140891" y="969630"/>
                  <a:pt x="98775" y="910071"/>
                </a:cubicBezTo>
                <a:cubicBezTo>
                  <a:pt x="45025" y="831068"/>
                  <a:pt x="34038" y="817468"/>
                  <a:pt x="43820" y="712632"/>
                </a:cubicBezTo>
                <a:cubicBezTo>
                  <a:pt x="34816" y="659496"/>
                  <a:pt x="43273" y="613587"/>
                  <a:pt x="44748" y="591246"/>
                </a:cubicBezTo>
                <a:lnTo>
                  <a:pt x="36767" y="546725"/>
                </a:lnTo>
                <a:cubicBezTo>
                  <a:pt x="36093" y="528360"/>
                  <a:pt x="35418" y="509996"/>
                  <a:pt x="34744" y="491632"/>
                </a:cubicBezTo>
                <a:cubicBezTo>
                  <a:pt x="34670" y="458441"/>
                  <a:pt x="29296" y="473054"/>
                  <a:pt x="29222" y="439863"/>
                </a:cubicBezTo>
                <a:cubicBezTo>
                  <a:pt x="29152" y="439762"/>
                  <a:pt x="2578" y="397168"/>
                  <a:pt x="2507" y="397065"/>
                </a:cubicBezTo>
                <a:cubicBezTo>
                  <a:pt x="-7796" y="385479"/>
                  <a:pt x="17492" y="336832"/>
                  <a:pt x="9810" y="317232"/>
                </a:cubicBezTo>
                <a:lnTo>
                  <a:pt x="25323" y="268841"/>
                </a:lnTo>
                <a:cubicBezTo>
                  <a:pt x="20582" y="241406"/>
                  <a:pt x="55391" y="238509"/>
                  <a:pt x="50278" y="195107"/>
                </a:cubicBezTo>
                <a:cubicBezTo>
                  <a:pt x="49891" y="157638"/>
                  <a:pt x="41873" y="124837"/>
                  <a:pt x="47653" y="93413"/>
                </a:cubicBezTo>
                <a:cubicBezTo>
                  <a:pt x="41389" y="80245"/>
                  <a:pt x="38874" y="67990"/>
                  <a:pt x="48323" y="56668"/>
                </a:cubicBezTo>
                <a:cubicBezTo>
                  <a:pt x="46028" y="30349"/>
                  <a:pt x="37896" y="18658"/>
                  <a:pt x="38423" y="5323"/>
                </a:cubicBezTo>
                <a:lnTo>
                  <a:pt x="39875" y="1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37693A-9F2F-B84E-B672-CD50AC93B1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460" y="2226736"/>
            <a:ext cx="3161940" cy="2597928"/>
          </a:xfrm>
        </p:spPr>
        <p:txBody>
          <a:bodyPr>
            <a:noAutofit/>
          </a:bodyPr>
          <a:lstStyle/>
          <a:p>
            <a:r>
              <a:rPr lang="en-US" sz="4400" dirty="0"/>
              <a:t>White House Visitor Log Analysis</a:t>
            </a:r>
            <a:br>
              <a:rPr lang="en-US" sz="4400" dirty="0"/>
            </a:b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5908D-A294-D027-50D9-F038EFA06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854" y="4498587"/>
            <a:ext cx="3643152" cy="554676"/>
          </a:xfrm>
        </p:spPr>
        <p:txBody>
          <a:bodyPr>
            <a:normAutofit/>
          </a:bodyPr>
          <a:lstStyle/>
          <a:p>
            <a:r>
              <a:rPr lang="en-US" sz="1800" i="1" dirty="0"/>
              <a:t>October–December 2022 vs. 2023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82A3B7C-BBD7-E0F3-393A-837EF30C537D}"/>
              </a:ext>
            </a:extLst>
          </p:cNvPr>
          <p:cNvSpPr txBox="1">
            <a:spLocks/>
          </p:cNvSpPr>
          <p:nvPr/>
        </p:nvSpPr>
        <p:spPr>
          <a:xfrm>
            <a:off x="199505" y="5234833"/>
            <a:ext cx="3768500" cy="14437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Teresa Ferrill</a:t>
            </a:r>
          </a:p>
          <a:p>
            <a:pPr algn="l"/>
            <a:r>
              <a:rPr lang="en-US" sz="1600" dirty="0"/>
              <a:t>Bellevue University, DSC 640 – Data Presentation and Visualization</a:t>
            </a:r>
          </a:p>
          <a:p>
            <a:pPr algn="l"/>
            <a:r>
              <a:rPr lang="en-US" sz="1600" dirty="0"/>
              <a:t>Assignment – Weeks 3 &amp; 4</a:t>
            </a:r>
          </a:p>
          <a:p>
            <a:pPr algn="l"/>
            <a:r>
              <a:rPr lang="en-US" sz="1600" dirty="0"/>
              <a:t>April 12, 2026</a:t>
            </a:r>
          </a:p>
          <a:p>
            <a:pPr algn="l"/>
            <a:endParaRPr lang="en-US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860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500759-6501-5255-9F97-D9D29B919B8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77FA3-1134-E599-D6D8-467D84FB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Purpose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B0AE5-E2CF-7642-1FF2-F7B92FD76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Identify visit patterns</a:t>
            </a:r>
          </a:p>
          <a:p>
            <a:r>
              <a:rPr lang="en-US" sz="4000" dirty="0"/>
              <a:t>Compare across years</a:t>
            </a:r>
          </a:p>
          <a:p>
            <a:r>
              <a:rPr lang="en-US" sz="4000" dirty="0"/>
              <a:t>Support operational decision-making</a:t>
            </a:r>
          </a:p>
          <a:p>
            <a:endParaRPr lang="en-US" sz="4000" dirty="0"/>
          </a:p>
          <a:p>
            <a:r>
              <a:rPr lang="en-US" sz="4000" b="1" dirty="0"/>
              <a:t>Call to Action: Improve Planning Using Data</a:t>
            </a:r>
          </a:p>
        </p:txBody>
      </p:sp>
    </p:spTree>
    <p:extLst>
      <p:ext uri="{BB962C8B-B14F-4D97-AF65-F5344CB8AC3E}">
        <p14:creationId xmlns:p14="http://schemas.microsoft.com/office/powerpoint/2010/main" val="1573089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B25E8-CA39-AF8D-26D8-C76D571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BECF47-C51B-AE42-E768-9FE2167072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CE80C8-45FE-0309-CE16-EBF07073E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Audience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D1276-2916-9034-30B5-A17BD15A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White house operations leadership</a:t>
            </a:r>
          </a:p>
          <a:p>
            <a:r>
              <a:rPr lang="en-US" sz="4000" dirty="0"/>
              <a:t>Familiar with data context</a:t>
            </a:r>
          </a:p>
          <a:p>
            <a:r>
              <a:rPr lang="en-US" sz="4000" dirty="0"/>
              <a:t>Focused on decision, not technical detail</a:t>
            </a:r>
          </a:p>
        </p:txBody>
      </p:sp>
    </p:spTree>
    <p:extLst>
      <p:ext uri="{BB962C8B-B14F-4D97-AF65-F5344CB8AC3E}">
        <p14:creationId xmlns:p14="http://schemas.microsoft.com/office/powerpoint/2010/main" val="124599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B4907-D51A-B49F-7A35-CB6ADCA7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6299E4-4087-A54B-DE95-F968EB5BCA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52C020-CDC0-A401-9FEE-0344B863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Medium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F875F-7DBC-0517-3D9B-5A3E826CF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Jupyter</a:t>
            </a:r>
            <a:r>
              <a:rPr lang="en-US" sz="4000" dirty="0"/>
              <a:t> notebook for data analysis and visualization</a:t>
            </a:r>
          </a:p>
          <a:p>
            <a:r>
              <a:rPr lang="en-US" sz="4000" dirty="0"/>
              <a:t>PowerPoint presentation for executive-level communication</a:t>
            </a:r>
          </a:p>
          <a:p>
            <a:r>
              <a:rPr lang="en-US" sz="4000" dirty="0"/>
              <a:t>Separates technical detail from key insights</a:t>
            </a:r>
          </a:p>
        </p:txBody>
      </p:sp>
    </p:spTree>
    <p:extLst>
      <p:ext uri="{BB962C8B-B14F-4D97-AF65-F5344CB8AC3E}">
        <p14:creationId xmlns:p14="http://schemas.microsoft.com/office/powerpoint/2010/main" val="2986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6D5C-8C17-457E-526C-010BC7FF2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C898F0-126B-22E2-4F88-07D4957703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EAE0BB-C170-4781-F548-C636EF51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Design Considerations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EA1BA-7D33-3ECE-E687-32D8C17DD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4000" dirty="0"/>
              <a:t>Clear and consistent formatting across visuals</a:t>
            </a:r>
          </a:p>
          <a:p>
            <a:r>
              <a:rPr lang="en-US" sz="4000" dirty="0"/>
              <a:t>Minimal color to highlight key differences</a:t>
            </a:r>
          </a:p>
          <a:p>
            <a:r>
              <a:rPr lang="en-US" sz="4000" dirty="0"/>
              <a:t>Logical flow from trends to detailed insights</a:t>
            </a:r>
          </a:p>
          <a:p>
            <a:r>
              <a:rPr lang="en-US" sz="4000" dirty="0"/>
              <a:t>Gestalt principles used to group related visuals</a:t>
            </a:r>
          </a:p>
          <a:p>
            <a:r>
              <a:rPr lang="en-US" sz="4000" dirty="0"/>
              <a:t>Focus on readability and quick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272783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A6126-A8D9-5F86-B8EE-31E2F857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4EF311-5814-2630-84FC-FFFCA24EF5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32F121-6FD4-0D36-8536-38D1E229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Key Finding 1 – Volume Increased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64906A8-DA4F-9999-F4A2-89117DA446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DB032A-7F39-DC12-61F6-E70C6DE7C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918291"/>
            <a:ext cx="5486400" cy="32201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D3D6BC9-F3AF-60C0-C157-A2EDB7C2CE42}"/>
              </a:ext>
            </a:extLst>
          </p:cNvPr>
          <p:cNvSpPr txBox="1"/>
          <p:nvPr/>
        </p:nvSpPr>
        <p:spPr>
          <a:xfrm>
            <a:off x="381000" y="4938094"/>
            <a:ext cx="54877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Higher visit volume in 2023 across holiday season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Increase is consistent, not isolated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70B07-B5E2-FD6E-8AC6-18FCB4B8EDE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264781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D7BC4-DF00-43F2-B57C-A701307C8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281685-94EB-60D6-F13C-ED68969C7C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287471-F9B7-C8A1-22DF-5D1CECD9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0874" cy="1325563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Key Finding 2 – Activity is Concentrated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83EACFC-599A-4308-06D4-1A04EF119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582B9B-8558-8015-4034-5ECBE1DFC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2674" y="2949037"/>
            <a:ext cx="5486400" cy="3187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12623B-C31A-B927-4A81-CBB8EC680AFC}"/>
              </a:ext>
            </a:extLst>
          </p:cNvPr>
          <p:cNvSpPr txBox="1"/>
          <p:nvPr/>
        </p:nvSpPr>
        <p:spPr>
          <a:xfrm>
            <a:off x="269365" y="4735692"/>
            <a:ext cx="5973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Small number of categories drive most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Not evenly distributed across all groups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6645D-8A71-DD58-C4B0-46000A4B0674}"/>
              </a:ext>
            </a:extLst>
          </p:cNvPr>
          <p:cNvSpPr txBox="1"/>
          <p:nvPr/>
        </p:nvSpPr>
        <p:spPr>
          <a:xfrm>
            <a:off x="9766069" y="6283112"/>
            <a:ext cx="2044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(Han et al., 2012)</a:t>
            </a:r>
          </a:p>
        </p:txBody>
      </p:sp>
    </p:spTree>
    <p:extLst>
      <p:ext uri="{BB962C8B-B14F-4D97-AF65-F5344CB8AC3E}">
        <p14:creationId xmlns:p14="http://schemas.microsoft.com/office/powerpoint/2010/main" val="344337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A868-213C-4B4E-C39C-749573C2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0A9E1E-72BE-39E1-4D19-B4AC5000AA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C9F11F-E931-243A-7D2E-348AD72D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3 – Timing is Predictable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40B6752-112C-2D08-0E9E-E88D9F5FF3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2926" y="1592673"/>
            <a:ext cx="5487740" cy="26512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236B28-D729-EE9A-F908-63889C20B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20" y="2918291"/>
            <a:ext cx="5231907" cy="32492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D53D42-526A-E1E9-8282-940C8824697F}"/>
              </a:ext>
            </a:extLst>
          </p:cNvPr>
          <p:cNvSpPr txBox="1"/>
          <p:nvPr/>
        </p:nvSpPr>
        <p:spPr>
          <a:xfrm>
            <a:off x="352926" y="4963886"/>
            <a:ext cx="597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Activity concentrated in late morning-afternoon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Consistent across holiday months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E6B291-4C1F-B638-BA76-1698BE25390C}"/>
              </a:ext>
            </a:extLst>
          </p:cNvPr>
          <p:cNvSpPr txBox="1"/>
          <p:nvPr/>
        </p:nvSpPr>
        <p:spPr>
          <a:xfrm>
            <a:off x="9509761" y="6283112"/>
            <a:ext cx="2301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(James et al., 2021)</a:t>
            </a:r>
          </a:p>
        </p:txBody>
      </p:sp>
    </p:spTree>
    <p:extLst>
      <p:ext uri="{BB962C8B-B14F-4D97-AF65-F5344CB8AC3E}">
        <p14:creationId xmlns:p14="http://schemas.microsoft.com/office/powerpoint/2010/main" val="2131629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BB08-EA62-B1DE-72E4-8BC93910D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BDDC8B-982E-C90F-6C60-0DD27DD8E6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A2027A-6BA3-E600-36E3-7173B441D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Key Finding 4 – Weekly Pattern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CAEAF1A-D91D-3CE9-7E57-2EAAC6B087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4E3B99-1063-61D1-281F-DF22674A2FBA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Weekday visits dominate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Weekend activity is minimal</a:t>
            </a:r>
          </a:p>
        </p:txBody>
      </p:sp>
    </p:spTree>
    <p:extLst>
      <p:ext uri="{BB962C8B-B14F-4D97-AF65-F5344CB8AC3E}">
        <p14:creationId xmlns:p14="http://schemas.microsoft.com/office/powerpoint/2010/main" val="1935881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D0C01-F4F1-8737-CC63-A33B31618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EEA447-F8F1-8A7C-DE1D-5FC7A3FB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FB5EB4-F6DE-9A8D-BB55-136B57AE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Supporting Trend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D3A1ECF-3831-2474-567D-420ED02D0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90363" y="1592672"/>
            <a:ext cx="7611275" cy="3677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04012-AC85-4DD7-93C9-0A4352B83273}"/>
              </a:ext>
            </a:extLst>
          </p:cNvPr>
          <p:cNvSpPr txBox="1"/>
          <p:nvPr/>
        </p:nvSpPr>
        <p:spPr>
          <a:xfrm>
            <a:off x="2290363" y="5549987"/>
            <a:ext cx="91690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Clear stepwise increase from 2022 to 2023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Reinforces upward trend</a:t>
            </a:r>
          </a:p>
        </p:txBody>
      </p:sp>
    </p:spTree>
    <p:extLst>
      <p:ext uri="{BB962C8B-B14F-4D97-AF65-F5344CB8AC3E}">
        <p14:creationId xmlns:p14="http://schemas.microsoft.com/office/powerpoint/2010/main" val="3013412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23C7-D916-22D8-51AB-267E5463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A081D1-3DC9-8ECF-B63D-5FCFDB395F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0A4A6E-EED8-4785-EA4C-EC04AB794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Recommendations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175B2D-0981-3B2A-8392-CFEEDCCB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Align staffing with peak hours (late morning – afternoon)</a:t>
            </a:r>
          </a:p>
          <a:p>
            <a:r>
              <a:rPr lang="en-US" sz="4000" dirty="0"/>
              <a:t>Focus resources on high-demand locations</a:t>
            </a:r>
          </a:p>
          <a:p>
            <a:r>
              <a:rPr lang="en-US" sz="4000" dirty="0"/>
              <a:t>Use historical data to anticipate demand</a:t>
            </a:r>
          </a:p>
          <a:p>
            <a:r>
              <a:rPr lang="en-US" sz="4000" dirty="0"/>
              <a:t>Plan proactively instead of reacting to volume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410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F332-5707-F42C-FED2-844E42568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EE410D-641B-6415-7CEF-B0392123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CC2F84-3FFE-9DD8-865E-F8549F6E4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Conclusion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D67DCB-0F65-00DD-BD64-AB06D9C8D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Visit patterns are consistent and predictable</a:t>
            </a:r>
          </a:p>
          <a:p>
            <a:r>
              <a:rPr lang="en-US" sz="4000" dirty="0"/>
              <a:t>Demand increased in 2023 across holiday months</a:t>
            </a:r>
          </a:p>
          <a:p>
            <a:r>
              <a:rPr lang="en-US" sz="4000" dirty="0"/>
              <a:t>Activity is concentrated and time-based</a:t>
            </a:r>
          </a:p>
          <a:p>
            <a:r>
              <a:rPr lang="en-US" sz="4000" dirty="0"/>
              <a:t>Data enables proactive operational planning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C5C96-3D0E-AA87-8E1B-3B16EF7ED82A}"/>
              </a:ext>
            </a:extLst>
          </p:cNvPr>
          <p:cNvSpPr txBox="1"/>
          <p:nvPr/>
        </p:nvSpPr>
        <p:spPr>
          <a:xfrm>
            <a:off x="6999316" y="6283112"/>
            <a:ext cx="4811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dirty="0"/>
              <a:t>(James et al., 2021; Cairo, 2016; </a:t>
            </a:r>
            <a:r>
              <a:rPr lang="fr-FR" dirty="0" err="1"/>
              <a:t>Knaflic</a:t>
            </a:r>
            <a:r>
              <a:rPr lang="fr-FR" dirty="0"/>
              <a:t>, 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6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9E81B-EC6E-0F58-EC6D-C9F9F1DE6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8F2660-2AF2-F2E7-02AB-AF643FD4AD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159070" y="60866"/>
            <a:ext cx="12032930" cy="67362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75CEC9-5821-D98B-815B-E84EFB6B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4730" cy="1325563"/>
          </a:xfrm>
        </p:spPr>
        <p:txBody>
          <a:bodyPr>
            <a:normAutofit/>
          </a:bodyPr>
          <a:lstStyle/>
          <a:p>
            <a:r>
              <a:rPr lang="en-US" sz="6000" dirty="0"/>
              <a:t>References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3B0A38-0558-E617-7DAE-41E379032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Cairo, A. (2016). The truthful art: Data, charts, and maps for communication. New Riders.</a:t>
            </a:r>
          </a:p>
          <a:p>
            <a:r>
              <a:rPr lang="en-US" dirty="0"/>
              <a:t>Han, J., Kamber, M., &amp; Pei, J. (2012). Data mining: Concepts and techniques (3rd ed.). Morgan Kaufmann.</a:t>
            </a:r>
          </a:p>
          <a:p>
            <a:r>
              <a:rPr lang="en-US" dirty="0"/>
              <a:t>James, G., Witten, D., Hastie, T., &amp; </a:t>
            </a:r>
            <a:r>
              <a:rPr lang="en-US" dirty="0" err="1"/>
              <a:t>Tibshirani</a:t>
            </a:r>
            <a:r>
              <a:rPr lang="en-US" dirty="0"/>
              <a:t>, R. (2021). An introduction to statistical learning: With applications in R (2nd ed.). Springer.</a:t>
            </a:r>
          </a:p>
          <a:p>
            <a:r>
              <a:rPr lang="en-US" dirty="0" err="1"/>
              <a:t>Knaflic</a:t>
            </a:r>
            <a:r>
              <a:rPr lang="en-US" dirty="0"/>
              <a:t>, C. N. (2015). Storytelling with data: A data visualization guide for business professionals. Wiley.</a:t>
            </a:r>
          </a:p>
        </p:txBody>
      </p:sp>
    </p:spTree>
    <p:extLst>
      <p:ext uri="{BB962C8B-B14F-4D97-AF65-F5344CB8AC3E}">
        <p14:creationId xmlns:p14="http://schemas.microsoft.com/office/powerpoint/2010/main" val="3560779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405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White House Visitor Log Analysis </vt:lpstr>
      <vt:lpstr>Purpose</vt:lpstr>
      <vt:lpstr>Audience</vt:lpstr>
      <vt:lpstr>Medium</vt:lpstr>
      <vt:lpstr>Design Considerations</vt:lpstr>
      <vt:lpstr>Key Finding 1 – Volume Increased</vt:lpstr>
      <vt:lpstr>Key Finding 2 – Activity is Concentrated</vt:lpstr>
      <vt:lpstr>Key Finding 3 – Timing is Predictable</vt:lpstr>
      <vt:lpstr>Key Finding 4 – Weekly Pattern</vt:lpstr>
      <vt:lpstr>Supporting Trend</vt:lpstr>
      <vt:lpstr>Recommendations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Teresa Ferrill</dc:creator>
  <cp:lastModifiedBy>Teresa Ferrill</cp:lastModifiedBy>
  <cp:revision>9</cp:revision>
  <dcterms:created xsi:type="dcterms:W3CDTF">2026-04-06T23:36:24Z</dcterms:created>
  <dcterms:modified xsi:type="dcterms:W3CDTF">2026-09-13T09:04:44Z</dcterms:modified>
</cp:coreProperties>
</file>